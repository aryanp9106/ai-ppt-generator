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jp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jp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jp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jp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0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286000"/>
            <a:ext cx="73152" cy="22860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19456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</a:rPr>
              <a:t>Navigating the Moral Landscape of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6576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02C39A"/>
                </a:solidFill>
              </a:rPr>
              <a:t>AI advances quickly, outpacing regulation.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76" y="0"/>
            <a:ext cx="6094476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852160" y="0"/>
            <a:ext cx="27432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943600" cy="6400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2860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A2E"/>
                </a:solidFill>
              </a:rPr>
              <a:t>What is AI Ethics?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89888"/>
            <a:ext cx="109728" cy="10972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28016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1A2E"/>
                </a:solidFill>
              </a:rPr>
              <a:t>Frameworks guiding AI development.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048256"/>
            <a:ext cx="109728" cy="10972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938528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1A2E"/>
                </a:solidFill>
              </a:rPr>
              <a:t>Ensures fairness and accountability.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706624"/>
            <a:ext cx="109728" cy="10972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596896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1A2E"/>
                </a:solidFill>
              </a:rPr>
              <a:t>Examines the societal impact.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364992"/>
            <a:ext cx="109728" cy="10972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3255264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1A2E"/>
                </a:solidFill>
              </a:rPr>
              <a:t>More than just technical compliance.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76" y="0"/>
            <a:ext cx="6094476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852160" y="0"/>
            <a:ext cx="27432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943600" cy="6400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2860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A2E"/>
                </a:solidFill>
              </a:rPr>
              <a:t>The Rise of Algorithmic Systems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89888"/>
            <a:ext cx="109728" cy="10972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28016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1A2E"/>
                </a:solidFill>
              </a:rPr>
              <a:t>AI powers decision-making globally.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048256"/>
            <a:ext cx="109728" cy="10972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938528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1A2E"/>
                </a:solidFill>
              </a:rPr>
              <a:t>From credit scoring to medical diagnoses.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706624"/>
            <a:ext cx="109728" cy="10972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596896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1A2E"/>
                </a:solidFill>
              </a:rPr>
              <a:t>Deep integration into daily life.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364992"/>
            <a:ext cx="109728" cy="10972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3255264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1A2E"/>
                </a:solidFill>
              </a:rPr>
              <a:t>Scale introduces complex risks.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76" y="0"/>
            <a:ext cx="6094476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852160" y="0"/>
            <a:ext cx="27432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943600" cy="6400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2860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A2E"/>
                </a:solidFill>
              </a:rPr>
              <a:t>The Ethical Imperative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89888"/>
            <a:ext cx="109728" cy="10972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28016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1A2E"/>
                </a:solidFill>
              </a:rPr>
              <a:t>Avoiding unintended harm.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048256"/>
            <a:ext cx="109728" cy="10972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938528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1A2E"/>
                </a:solidFill>
              </a:rPr>
              <a:t>Maintaining human rights and dignity.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706624"/>
            <a:ext cx="109728" cy="10972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596896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1A2E"/>
                </a:solidFill>
              </a:rPr>
              <a:t>Ensuring equitable access for all.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364992"/>
            <a:ext cx="109728" cy="10972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3255264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1A2E"/>
                </a:solidFill>
              </a:rPr>
              <a:t>Trust requires ethical guardrails.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76" y="0"/>
            <a:ext cx="6094476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852160" y="0"/>
            <a:ext cx="27432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943600" cy="6400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2860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A2E"/>
                </a:solidFill>
              </a:rPr>
              <a:t>Core Ethical Principles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89888"/>
            <a:ext cx="109728" cy="10972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28016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1A2E"/>
                </a:solidFill>
              </a:rPr>
              <a:t>Fairness: Eliminating bias.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048256"/>
            <a:ext cx="109728" cy="10972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938528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1A2E"/>
                </a:solidFill>
              </a:rPr>
              <a:t>Transparency: Understanding the 'why'.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706624"/>
            <a:ext cx="109728" cy="10972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596896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1A2E"/>
                </a:solidFill>
              </a:rPr>
              <a:t>Accountability: Assigning responsibility.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364992"/>
            <a:ext cx="109728" cy="10972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3255264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1A2E"/>
                </a:solidFill>
              </a:rPr>
              <a:t>Beneficence: Doing good.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76" y="0"/>
            <a:ext cx="6094476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852160" y="0"/>
            <a:ext cx="27432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943600" cy="6400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2860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A2E"/>
                </a:solidFill>
              </a:rPr>
              <a:t>The Problem of Bias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89888"/>
            <a:ext cx="109728" cy="10972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28016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1A2E"/>
                </a:solidFill>
              </a:rPr>
              <a:t>Data bias leads to skewed outcomes.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048256"/>
            <a:ext cx="109728" cy="10972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938528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1A2E"/>
                </a:solidFill>
              </a:rPr>
              <a:t>Algorithms perpetuate existing inequalities.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706624"/>
            <a:ext cx="109728" cy="10972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596896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1A2E"/>
                </a:solidFill>
              </a:rPr>
              <a:t>Bias can affect hiring or justice.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364992"/>
            <a:ext cx="109728" cy="10972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3255264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1A2E"/>
                </a:solidFill>
              </a:rPr>
              <a:t>Systemic discrimination is hidden.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76" y="0"/>
            <a:ext cx="6094476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852160" y="0"/>
            <a:ext cx="27432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943600" cy="6400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2860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A2E"/>
                </a:solidFill>
              </a:rPr>
              <a:t>Opacity and Black Boxes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89888"/>
            <a:ext cx="109728" cy="10972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28016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1A2E"/>
                </a:solidFill>
              </a:rPr>
              <a:t>Many models are non-interpretable.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048256"/>
            <a:ext cx="109728" cy="10972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938528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1A2E"/>
                </a:solidFill>
              </a:rPr>
              <a:t>Understanding why a decision was made is hard.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706624"/>
            <a:ext cx="109728" cy="10972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596896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1A2E"/>
                </a:solidFill>
              </a:rPr>
              <a:t>The 'Black Box' problem limits trust.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364992"/>
            <a:ext cx="109728" cy="10972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3255264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1A2E"/>
                </a:solidFill>
              </a:rPr>
              <a:t>Requires specialized explainability tools.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76" y="0"/>
            <a:ext cx="6094476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852160" y="0"/>
            <a:ext cx="27432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943600" cy="6400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2860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A2E"/>
                </a:solidFill>
              </a:rPr>
              <a:t>Lack of Accountability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89888"/>
            <a:ext cx="109728" cy="10972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28016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1A2E"/>
                </a:solidFill>
              </a:rPr>
              <a:t>When things go wrong, who is responsible?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048256"/>
            <a:ext cx="109728" cy="10972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938528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1A2E"/>
                </a:solidFill>
              </a:rPr>
              <a:t>Is it the programmer, the user, or the AI?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706624"/>
            <a:ext cx="109728" cy="10972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596896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1A2E"/>
                </a:solidFill>
              </a:rPr>
              <a:t>Clear liability chains are often missing.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364992"/>
            <a:ext cx="109728" cy="10972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3255264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1A2E"/>
                </a:solidFill>
              </a:rPr>
              <a:t>Requires legal and technical frameworks.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76" y="0"/>
            <a:ext cx="6094476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852160" y="0"/>
            <a:ext cx="27432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943600" cy="6400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2860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A2E"/>
                </a:solidFill>
              </a:rPr>
              <a:t>Algorithmic Fairness Defined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89888"/>
            <a:ext cx="109728" cy="10972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28016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1A2E"/>
                </a:solidFill>
              </a:rPr>
              <a:t>Treating all groups equally by design.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048256"/>
            <a:ext cx="109728" cy="10972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938528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1A2E"/>
                </a:solidFill>
              </a:rPr>
              <a:t>Fairness metrics must be defined precisely.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706624"/>
            <a:ext cx="109728" cy="10972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596896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1A2E"/>
                </a:solidFill>
              </a:rPr>
              <a:t>Addressing historical disparities in data.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364992"/>
            <a:ext cx="109728" cy="10972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3255264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1A2E"/>
                </a:solidFill>
              </a:rPr>
              <a:t>A continuous engineering challenge.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02C39A"/>
                </a:solidFill>
              </a:rPr>
              <a:t>— SECTION 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5603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</a:rPr>
              <a:t>Defining Responsible AI Practices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0233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ADCFC"/>
                </a:solidFill>
              </a:rPr>
              <a:t>Ethical principles must guide development.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76" y="0"/>
            <a:ext cx="6094476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852160" y="0"/>
            <a:ext cx="27432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943600" cy="6400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2860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A2E"/>
                </a:solidFill>
              </a:rPr>
              <a:t>The Importance of Transparency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89888"/>
            <a:ext cx="109728" cy="10972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28016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1A2E"/>
                </a:solidFill>
              </a:rPr>
              <a:t>Explainable AI (XAI) techniques are vital.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048256"/>
            <a:ext cx="109728" cy="10972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938528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1A2E"/>
                </a:solidFill>
              </a:rPr>
              <a:t>Users deserve to know how decisions are made.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706624"/>
            <a:ext cx="109728" cy="10972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596896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1A2E"/>
                </a:solidFill>
              </a:rPr>
              <a:t>Open model architecture builds trust.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364992"/>
            <a:ext cx="109728" cy="10972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3255264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1A2E"/>
                </a:solidFill>
              </a:rPr>
              <a:t>Transparency is a right, not a feature.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76" y="0"/>
            <a:ext cx="6094476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852160" y="0"/>
            <a:ext cx="27432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943600" cy="6400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2860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A2E"/>
                </a:solidFill>
              </a:rPr>
              <a:t>Addressing Data Bias (Technical Fixes)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89888"/>
            <a:ext cx="109728" cy="10972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28016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1A2E"/>
                </a:solidFill>
              </a:rPr>
              <a:t>Data preprocessing and augmentation methods.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048256"/>
            <a:ext cx="109728" cy="10972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938528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1A2E"/>
                </a:solidFill>
              </a:rPr>
              <a:t>Using adversarial debiasing techniques.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706624"/>
            <a:ext cx="109728" cy="10972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596896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1A2E"/>
                </a:solidFill>
              </a:rPr>
              <a:t>Collecting more representative datasets.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364992"/>
            <a:ext cx="109728" cy="10972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3255264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1A2E"/>
                </a:solidFill>
              </a:rPr>
              <a:t>Requires continuous monitoring and testing.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76" y="0"/>
            <a:ext cx="6094476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852160" y="0"/>
            <a:ext cx="27432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943600" cy="6400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2860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A2E"/>
                </a:solidFill>
              </a:rPr>
              <a:t>Ensuring Human Oversight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89888"/>
            <a:ext cx="109728" cy="10972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28016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1A2E"/>
                </a:solidFill>
              </a:rPr>
              <a:t>Human intervention must be possible.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048256"/>
            <a:ext cx="109728" cy="10972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938528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1A2E"/>
                </a:solidFill>
              </a:rPr>
              <a:t>AI should augment, not replace judgment.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706624"/>
            <a:ext cx="109728" cy="10972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596896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1A2E"/>
                </a:solidFill>
              </a:rPr>
              <a:t>Human-in-the-loop systems are safer.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364992"/>
            <a:ext cx="109728" cy="10972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3255264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1A2E"/>
                </a:solidFill>
              </a:rPr>
              <a:t>Defining clear points of human review.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943600" cy="6400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A2E"/>
                </a:solidFill>
              </a:rPr>
              <a:t>Accountability Frameworks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389888"/>
            <a:ext cx="109728" cy="10972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28016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1A2E"/>
                </a:solidFill>
              </a:rPr>
              <a:t>Establishing clear legal liabilities.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2048256"/>
            <a:ext cx="109728" cy="10972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938528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1A2E"/>
                </a:solidFill>
              </a:rPr>
              <a:t>Creating ethical review boards.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706624"/>
            <a:ext cx="109728" cy="10972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596896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1A2E"/>
                </a:solidFill>
              </a:rPr>
              <a:t>Mandatory impact assessments (AIA).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3364992"/>
            <a:ext cx="109728" cy="10972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3255264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1A2E"/>
                </a:solidFill>
              </a:rPr>
              <a:t>Governing AI adoption from the start.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76" y="0"/>
            <a:ext cx="6094476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852160" y="0"/>
            <a:ext cx="27432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943600" cy="6400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2860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A2E"/>
                </a:solidFill>
              </a:rPr>
              <a:t>AI in Healthcare: Opportunities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89888"/>
            <a:ext cx="109728" cy="10972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28016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1A2E"/>
                </a:solidFill>
              </a:rPr>
              <a:t>Faster diagnostics and drug discovery.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048256"/>
            <a:ext cx="109728" cy="10972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938528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1A2E"/>
                </a:solidFill>
              </a:rPr>
              <a:t>Personalized medicine treatments.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706624"/>
            <a:ext cx="109728" cy="10972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596896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1A2E"/>
                </a:solidFill>
              </a:rPr>
              <a:t>Optimizing surgical procedures.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364992"/>
            <a:ext cx="109728" cy="10972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3255264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1A2E"/>
                </a:solidFill>
              </a:rPr>
              <a:t>Improving patient care efficiency.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76" y="0"/>
            <a:ext cx="6094476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852160" y="0"/>
            <a:ext cx="27432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943600" cy="6400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2860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A2E"/>
                </a:solidFill>
              </a:rPr>
              <a:t>Ethical Challenges in Medicine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89888"/>
            <a:ext cx="109728" cy="10972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28016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1A2E"/>
                </a:solidFill>
              </a:rPr>
              <a:t>Bias in diagnostic tools (race/gender).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048256"/>
            <a:ext cx="109728" cy="10972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938528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1A2E"/>
                </a:solidFill>
              </a:rPr>
              <a:t>Data privacy of sensitive patient records.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706624"/>
            <a:ext cx="109728" cy="10972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596896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1A2E"/>
                </a:solidFill>
              </a:rPr>
              <a:t>Who owns the AI-discovered data?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364992"/>
            <a:ext cx="109728" cy="10972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3255264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1A2E"/>
                </a:solidFill>
              </a:rPr>
              <a:t>Preventing over-reliance on AI outputs.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76" y="0"/>
            <a:ext cx="6094476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852160" y="0"/>
            <a:ext cx="27432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943600" cy="6400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2860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A2E"/>
                </a:solidFill>
              </a:rPr>
              <a:t>AI in Criminal Justice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89888"/>
            <a:ext cx="109728" cy="10972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28016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1A2E"/>
                </a:solidFill>
              </a:rPr>
              <a:t>Predictive policing controversies.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048256"/>
            <a:ext cx="109728" cy="10972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938528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1A2E"/>
                </a:solidFill>
              </a:rPr>
              <a:t>Bias in facial recognition software.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706624"/>
            <a:ext cx="109728" cy="10972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596896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1A2E"/>
                </a:solidFill>
              </a:rPr>
              <a:t>Risk assessments must be scrutinized.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364992"/>
            <a:ext cx="109728" cy="10972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3255264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1A2E"/>
                </a:solidFill>
              </a:rPr>
              <a:t>Due process rights must remain paramount.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76" y="0"/>
            <a:ext cx="6094476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852160" y="0"/>
            <a:ext cx="27432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943600" cy="6400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2860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A2E"/>
                </a:solidFill>
              </a:rPr>
              <a:t>The Problem of Judicial Bias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89888"/>
            <a:ext cx="109728" cy="10972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28016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1A2E"/>
                </a:solidFill>
              </a:rPr>
              <a:t>Algorithms can automate prejudice.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048256"/>
            <a:ext cx="109728" cy="10972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938528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1A2E"/>
                </a:solidFill>
              </a:rPr>
              <a:t>Training data reflects systemic bias.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706624"/>
            <a:ext cx="109728" cy="10972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596896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1A2E"/>
                </a:solidFill>
              </a:rPr>
              <a:t>Reinforcing inequitable sentencing patterns.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364992"/>
            <a:ext cx="109728" cy="10972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3255264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1A2E"/>
                </a:solidFill>
              </a:rPr>
              <a:t>Need for judicial human oversight.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76" y="0"/>
            <a:ext cx="6094476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852160" y="0"/>
            <a:ext cx="27432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943600" cy="6400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2860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A2E"/>
                </a:solidFill>
              </a:rPr>
              <a:t>AI and Employment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89888"/>
            <a:ext cx="109728" cy="10972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28016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1A2E"/>
                </a:solidFill>
              </a:rPr>
              <a:t>Automation displaces old jobs.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048256"/>
            <a:ext cx="109728" cy="10972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938528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1A2E"/>
                </a:solidFill>
              </a:rPr>
              <a:t>Creating new, technical roles.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706624"/>
            <a:ext cx="109728" cy="10972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596896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1A2E"/>
                </a:solidFill>
              </a:rPr>
              <a:t>Need for massive upskilling and retraining.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364992"/>
            <a:ext cx="109728" cy="10972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3255264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1A2E"/>
                </a:solidFill>
              </a:rPr>
              <a:t>Focus on human-AI collaboration.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1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76" y="0"/>
            <a:ext cx="6094476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852160" y="0"/>
            <a:ext cx="27432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943600" cy="6400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2860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A2E"/>
                </a:solidFill>
              </a:rPr>
              <a:t>Worker Rights and AI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89888"/>
            <a:ext cx="109728" cy="10972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28016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1A2E"/>
                </a:solidFill>
              </a:rPr>
              <a:t>Monitoring tools raise privacy concerns.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048256"/>
            <a:ext cx="109728" cy="10972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938528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1A2E"/>
                </a:solidFill>
              </a:rPr>
              <a:t>Managing job quality deterioration.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706624"/>
            <a:ext cx="109728" cy="10972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596896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1A2E"/>
                </a:solidFill>
              </a:rPr>
              <a:t>Ensuring fair algorithmic management.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364992"/>
            <a:ext cx="109728" cy="10972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3255264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1A2E"/>
                </a:solidFill>
              </a:rPr>
              <a:t>Worker consultation is crucial.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76" y="0"/>
            <a:ext cx="6094476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852160" y="0"/>
            <a:ext cx="27432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943600" cy="6400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2860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A2E"/>
                </a:solidFill>
              </a:rPr>
              <a:t>The Need for Cross-Sectoral Ethics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89888"/>
            <a:ext cx="109728" cy="10972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28016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1A2E"/>
                </a:solidFill>
              </a:rPr>
              <a:t>Ethics cannot be left to tech companies.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048256"/>
            <a:ext cx="109728" cy="10972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938528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1A2E"/>
                </a:solidFill>
              </a:rPr>
              <a:t>Requires participation from law, medicine, and government.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706624"/>
            <a:ext cx="109728" cy="10972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596896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1A2E"/>
                </a:solidFill>
              </a:rPr>
              <a:t>Interdisciplinary collaboration is key.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364992"/>
            <a:ext cx="109728" cy="10972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3255264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1A2E"/>
                </a:solidFill>
              </a:rPr>
              <a:t>Setting industry standards together.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2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76" y="0"/>
            <a:ext cx="6094476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852160" y="0"/>
            <a:ext cx="27432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943600" cy="6400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2860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A2E"/>
                </a:solidFill>
              </a:rPr>
              <a:t>Global Policy Approaches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89888"/>
            <a:ext cx="109728" cy="10972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28016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1A2E"/>
                </a:solidFill>
              </a:rPr>
              <a:t>Comparing EU, US, and China standards.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048256"/>
            <a:ext cx="109728" cy="10972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938528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1A2E"/>
                </a:solidFill>
              </a:rPr>
              <a:t>The need for international cooperation.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706624"/>
            <a:ext cx="109728" cy="10972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596896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1A2E"/>
                </a:solidFill>
              </a:rPr>
              <a:t>Harmonizing ethical guidelines globally.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364992"/>
            <a:ext cx="109728" cy="10972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3255264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1A2E"/>
                </a:solidFill>
              </a:rPr>
              <a:t>Avoiding regulatory fragmentation.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2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76" y="0"/>
            <a:ext cx="6094476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852160" y="0"/>
            <a:ext cx="27432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943600" cy="6400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2860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A2E"/>
                </a:solidFill>
              </a:rPr>
              <a:t>Key Regulatory Models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89888"/>
            <a:ext cx="109728" cy="10972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28016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1A2E"/>
                </a:solidFill>
              </a:rPr>
              <a:t>Right to Explanation (GDPR model).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048256"/>
            <a:ext cx="109728" cy="10972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938528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1A2E"/>
                </a:solidFill>
              </a:rPr>
              <a:t>Risk-based tiered compliance systems.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706624"/>
            <a:ext cx="109728" cy="10972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596896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1A2E"/>
                </a:solidFill>
              </a:rPr>
              <a:t>Mandatory impact assessments.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364992"/>
            <a:ext cx="109728" cy="10972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3255264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1A2E"/>
                </a:solidFill>
              </a:rPr>
              <a:t>Establishing AI-specific certification.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2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76" y="0"/>
            <a:ext cx="6094476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852160" y="0"/>
            <a:ext cx="27432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943600" cy="6400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2860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A2E"/>
                </a:solidFill>
              </a:rPr>
              <a:t>Developing Ethical Checklists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89888"/>
            <a:ext cx="109728" cy="10972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28016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1A2E"/>
                </a:solidFill>
              </a:rPr>
              <a:t>Pre-deployment impact assessments.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048256"/>
            <a:ext cx="109728" cy="10972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938528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1A2E"/>
                </a:solidFill>
              </a:rPr>
              <a:t>Bias testing and mitigation reports.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706624"/>
            <a:ext cx="109728" cy="10972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596896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1A2E"/>
                </a:solidFill>
              </a:rPr>
              <a:t>Stakeholder inclusion during design.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364992"/>
            <a:ext cx="109728" cy="10972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3255264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1A2E"/>
                </a:solidFill>
              </a:rPr>
              <a:t>Creating a 'safety by design' approach.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2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76" y="0"/>
            <a:ext cx="6094476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852160" y="0"/>
            <a:ext cx="27432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943600" cy="6400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2860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A2E"/>
                </a:solidFill>
              </a:rPr>
              <a:t>Technical Solutions: XAI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89888"/>
            <a:ext cx="109728" cy="10972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28016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1A2E"/>
                </a:solidFill>
              </a:rPr>
              <a:t>Using SHAP and LIME models.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048256"/>
            <a:ext cx="109728" cy="10972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938528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1A2E"/>
                </a:solidFill>
              </a:rPr>
              <a:t>Visualizing feature importance in decisions.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706624"/>
            <a:ext cx="109728" cy="10972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596896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1A2E"/>
                </a:solidFill>
              </a:rPr>
              <a:t>Making complex outputs understandable.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364992"/>
            <a:ext cx="109728" cy="10972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3255264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1A2E"/>
                </a:solidFill>
              </a:rPr>
              <a:t>Building trust through clarity.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2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76" y="0"/>
            <a:ext cx="6094476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852160" y="0"/>
            <a:ext cx="27432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943600" cy="6400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2860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A2E"/>
                </a:solidFill>
              </a:rPr>
              <a:t>Privacy-Preserving AI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89888"/>
            <a:ext cx="109728" cy="10972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28016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1A2E"/>
                </a:solidFill>
              </a:rPr>
              <a:t>Differential privacy techniques.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048256"/>
            <a:ext cx="109728" cy="10972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938528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1A2E"/>
                </a:solidFill>
              </a:rPr>
              <a:t>Federated learning models.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706624"/>
            <a:ext cx="109728" cy="10972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596896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1A2E"/>
                </a:solidFill>
              </a:rPr>
              <a:t>Data anonymization best practices.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364992"/>
            <a:ext cx="109728" cy="10972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3255264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1A2E"/>
                </a:solidFill>
              </a:rPr>
              <a:t>Protecting data at the source.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2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76" y="0"/>
            <a:ext cx="6094476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852160" y="0"/>
            <a:ext cx="27432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943600" cy="6400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2860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A2E"/>
                </a:solidFill>
              </a:rPr>
              <a:t>Data Governance Structures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89888"/>
            <a:ext cx="109728" cy="10972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28016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1A2E"/>
                </a:solidFill>
              </a:rPr>
              <a:t>Establishing clear data ownership rules.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048256"/>
            <a:ext cx="109728" cy="10972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938528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1A2E"/>
                </a:solidFill>
              </a:rPr>
              <a:t>Ensuring informed user consent.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706624"/>
            <a:ext cx="109728" cy="10972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596896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1A2E"/>
                </a:solidFill>
              </a:rPr>
              <a:t>Managing data lifecycle responsibly.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364992"/>
            <a:ext cx="109728" cy="10972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3255264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1A2E"/>
                </a:solidFill>
              </a:rPr>
              <a:t>Audit trails for all data usage.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2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76" y="0"/>
            <a:ext cx="6094476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852160" y="0"/>
            <a:ext cx="27432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943600" cy="6400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2860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A2E"/>
                </a:solidFill>
              </a:rPr>
              <a:t>The Problem of Misinformation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89888"/>
            <a:ext cx="109728" cy="10972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28016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1A2E"/>
                </a:solidFill>
              </a:rPr>
              <a:t>Deepfakes challenge reality.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048256"/>
            <a:ext cx="109728" cy="10972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938528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1A2E"/>
                </a:solidFill>
              </a:rPr>
              <a:t>Generating synthetic media convincingly.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706624"/>
            <a:ext cx="109728" cy="10972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596896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1A2E"/>
                </a:solidFill>
              </a:rPr>
              <a:t>Erodes public trust rapidly.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364992"/>
            <a:ext cx="109728" cy="10972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3255264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1A2E"/>
                </a:solidFill>
              </a:rPr>
              <a:t>Requires sophisticated detection methods.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2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76" y="0"/>
            <a:ext cx="6094476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852160" y="0"/>
            <a:ext cx="27432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943600" cy="6400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2860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A2E"/>
                </a:solidFill>
              </a:rPr>
              <a:t>Generative AI Risks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89888"/>
            <a:ext cx="109728" cy="10972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28016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1A2E"/>
                </a:solidFill>
              </a:rPr>
              <a:t>Copyright and intellectual property infringement.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048256"/>
            <a:ext cx="109728" cy="10972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938528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1A2E"/>
                </a:solidFill>
              </a:rPr>
              <a:t>Spreading biased narratives at scale.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706624"/>
            <a:ext cx="109728" cy="10972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596896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1A2E"/>
                </a:solidFill>
              </a:rPr>
              <a:t>Potential for sophisticated fraud.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364992"/>
            <a:ext cx="109728" cy="10972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3255264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1A2E"/>
                </a:solidFill>
              </a:rPr>
              <a:t>Need for provenance tracking.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2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76" y="0"/>
            <a:ext cx="6094476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852160" y="0"/>
            <a:ext cx="27432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943600" cy="6400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2860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A2E"/>
                </a:solidFill>
              </a:rPr>
              <a:t>Digital Literacy and Ethics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89888"/>
            <a:ext cx="109728" cy="10972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28016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1A2E"/>
                </a:solidFill>
              </a:rPr>
              <a:t>The public must understand AI basics.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048256"/>
            <a:ext cx="109728" cy="10972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938528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1A2E"/>
                </a:solidFill>
              </a:rPr>
              <a:t>Educating users on algorithmic limitations.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706624"/>
            <a:ext cx="109728" cy="10972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596896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1A2E"/>
                </a:solidFill>
              </a:rPr>
              <a:t>Fostering critical thinking skills.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364992"/>
            <a:ext cx="109728" cy="10972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3255264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1A2E"/>
                </a:solidFill>
              </a:rPr>
              <a:t>Democratizing ethical knowledge.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3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76" y="0"/>
            <a:ext cx="6094476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852160" y="0"/>
            <a:ext cx="27432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943600" cy="6400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2860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A2E"/>
                </a:solidFill>
              </a:rPr>
              <a:t>The Future of AI Oversight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89888"/>
            <a:ext cx="109728" cy="10972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28016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1A2E"/>
                </a:solidFill>
              </a:rPr>
              <a:t>Adaptive regulations needed for speed.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048256"/>
            <a:ext cx="109728" cy="10972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938528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1A2E"/>
                </a:solidFill>
              </a:rPr>
              <a:t>Global consortiums for standards.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706624"/>
            <a:ext cx="109728" cy="10972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596896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1A2E"/>
                </a:solidFill>
              </a:rPr>
              <a:t>Focus on auditing the models themselves.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364992"/>
            <a:ext cx="109728" cy="10972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3255264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1A2E"/>
                </a:solidFill>
              </a:rPr>
              <a:t>Beyond compliance: moral philosophy.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3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02C39A"/>
                </a:solidFill>
              </a:rPr>
              <a:t>— SECTION 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5603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</a:rPr>
              <a:t>Summary of Ethical Priorities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0233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ADCFC"/>
                </a:solidFill>
              </a:rPr>
              <a:t>Ethic design must be paramount.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3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76" y="0"/>
            <a:ext cx="6094476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852160" y="0"/>
            <a:ext cx="27432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943600" cy="6400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2860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A2E"/>
                </a:solidFill>
              </a:rPr>
              <a:t>Bridging the Gap: Ethics to Practice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89888"/>
            <a:ext cx="109728" cy="10972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28016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1A2E"/>
                </a:solidFill>
              </a:rPr>
              <a:t>From principles to enforceable policy.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048256"/>
            <a:ext cx="109728" cy="10972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938528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1A2E"/>
                </a:solidFill>
              </a:rPr>
              <a:t>Creating 'Ethical Impact Statements'.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706624"/>
            <a:ext cx="109728" cy="10972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596896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1A2E"/>
                </a:solidFill>
              </a:rPr>
              <a:t>Training professionals in ethical AI.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364992"/>
            <a:ext cx="109728" cy="10972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3255264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1A2E"/>
                </a:solidFill>
              </a:rPr>
              <a:t>Integrating ethics into the entire SDLC.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3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76" y="0"/>
            <a:ext cx="6094476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852160" y="0"/>
            <a:ext cx="27432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943600" cy="6400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2860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A2E"/>
                </a:solidFill>
              </a:rPr>
              <a:t>Policy Recommendation: Whitelisting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89888"/>
            <a:ext cx="109728" cy="10972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28016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1A2E"/>
                </a:solidFill>
              </a:rPr>
              <a:t>Defining acceptable use cases for AI.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048256"/>
            <a:ext cx="109728" cy="10972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938528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1A2E"/>
                </a:solidFill>
              </a:rPr>
              <a:t>Restricting high-risk applications initially.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706624"/>
            <a:ext cx="109728" cy="10972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596896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1A2E"/>
                </a:solidFill>
              </a:rPr>
              <a:t>Phased deployment based on risk level.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364992"/>
            <a:ext cx="109728" cy="10972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3255264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1A2E"/>
                </a:solidFill>
              </a:rPr>
              <a:t>Establishing regulatory sandboxes.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3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76" y="0"/>
            <a:ext cx="6094476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852160" y="0"/>
            <a:ext cx="27432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943600" cy="6400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2860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A2E"/>
                </a:solidFill>
              </a:rPr>
              <a:t>The Role of Auditing and Governance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89888"/>
            <a:ext cx="109728" cy="10972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28016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1A2E"/>
                </a:solidFill>
              </a:rPr>
              <a:t>Independent, mandatory third-party audits.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048256"/>
            <a:ext cx="109728" cy="10972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938528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1A2E"/>
                </a:solidFill>
              </a:rPr>
              <a:t>Establishing AI oversight boards.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706624"/>
            <a:ext cx="109728" cy="10972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596896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1A2E"/>
                </a:solidFill>
              </a:rPr>
              <a:t>Documenting all assumptions and risks.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364992"/>
            <a:ext cx="109728" cy="10972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3255264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1A2E"/>
                </a:solidFill>
              </a:rPr>
              <a:t>Continuous post-deployment monitoring.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3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76" y="0"/>
            <a:ext cx="6094476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852160" y="0"/>
            <a:ext cx="27432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943600" cy="6400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2860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A2E"/>
                </a:solidFill>
              </a:rPr>
              <a:t>Mitigating Systemic Risk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89888"/>
            <a:ext cx="109728" cy="10972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28016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1A2E"/>
                </a:solidFill>
              </a:rPr>
              <a:t>Understanding AI's collective impact.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048256"/>
            <a:ext cx="109728" cy="10972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938528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1A2E"/>
                </a:solidFill>
              </a:rPr>
              <a:t>Preventing single points of failure.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706624"/>
            <a:ext cx="109728" cy="10972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596896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1A2E"/>
                </a:solidFill>
              </a:rPr>
              <a:t>Building redundancies and fail-safes.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364992"/>
            <a:ext cx="109728" cy="10972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3255264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1A2E"/>
                </a:solidFill>
              </a:rPr>
              <a:t>Systemic thinking is essential.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3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76" y="0"/>
            <a:ext cx="6094476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852160" y="0"/>
            <a:ext cx="27432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943600" cy="6400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2860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A2E"/>
                </a:solidFill>
              </a:rPr>
              <a:t>Ethical Design Thinking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89888"/>
            <a:ext cx="109728" cy="10972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28016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1A2E"/>
                </a:solidFill>
              </a:rPr>
              <a:t>Integrating ethics from the initial concept.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048256"/>
            <a:ext cx="109728" cy="10972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938528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1A2E"/>
                </a:solidFill>
              </a:rPr>
              <a:t>Questioning assumptions throughout the process.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706624"/>
            <a:ext cx="109728" cy="10972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596896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1A2E"/>
                </a:solidFill>
              </a:rPr>
              <a:t>Adopting a 'Do No Harm' methodology.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364992"/>
            <a:ext cx="109728" cy="10972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3255264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1A2E"/>
                </a:solidFill>
              </a:rPr>
              <a:t>Making ethics a core KPI.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3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76" y="0"/>
            <a:ext cx="6094476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852160" y="0"/>
            <a:ext cx="27432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943600" cy="6400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2860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A2E"/>
                </a:solidFill>
              </a:rPr>
              <a:t>Whose Values Are Embedded?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89888"/>
            <a:ext cx="109728" cy="10972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28016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1A2E"/>
                </a:solidFill>
              </a:rPr>
              <a:t>AI models reflect their creators' biases.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048256"/>
            <a:ext cx="109728" cy="10972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938528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1A2E"/>
                </a:solidFill>
              </a:rPr>
              <a:t>Ensuring diverse input from marginalized groups.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706624"/>
            <a:ext cx="109728" cy="10972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596896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1A2E"/>
                </a:solidFill>
              </a:rPr>
              <a:t>Avoiding cultural assumptions in design.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364992"/>
            <a:ext cx="109728" cy="10972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3255264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1A2E"/>
                </a:solidFill>
              </a:rPr>
              <a:t>Mandating global perspectives.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76" y="0"/>
            <a:ext cx="6094476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852160" y="0"/>
            <a:ext cx="27432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943600" cy="6400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2860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A2E"/>
                </a:solidFill>
              </a:rPr>
              <a:t>The Need for Ethical Metrics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89888"/>
            <a:ext cx="109728" cy="10972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28016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1A2E"/>
                </a:solidFill>
              </a:rPr>
              <a:t>Beyond accuracy: measuring fairness.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048256"/>
            <a:ext cx="109728" cy="10972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938528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1A2E"/>
                </a:solidFill>
              </a:rPr>
              <a:t>Developing metrics for equity and justice.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706624"/>
            <a:ext cx="109728" cy="10972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596896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1A2E"/>
                </a:solidFill>
              </a:rPr>
              <a:t>Quantifying societal risk impact.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364992"/>
            <a:ext cx="109728" cy="10972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3255264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1A2E"/>
                </a:solidFill>
              </a:rPr>
              <a:t>Developing quantifiable 'goodness' scores.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3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76" y="0"/>
            <a:ext cx="6094476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852160" y="0"/>
            <a:ext cx="27432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943600" cy="6400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2860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A2E"/>
                </a:solidFill>
              </a:rPr>
              <a:t>Addressing Data Poverty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89888"/>
            <a:ext cx="109728" cy="10972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28016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1A2E"/>
                </a:solidFill>
              </a:rPr>
              <a:t>Overcoming lack of data from marginalized communities.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048256"/>
            <a:ext cx="109728" cy="10972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938528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1A2E"/>
                </a:solidFill>
              </a:rPr>
              <a:t>Actively collecting diverse data points.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706624"/>
            <a:ext cx="109728" cy="10972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596896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1A2E"/>
                </a:solidFill>
              </a:rPr>
              <a:t>Preventing AI neglect of specific groups.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364992"/>
            <a:ext cx="109728" cy="10972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3255264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1A2E"/>
                </a:solidFill>
              </a:rPr>
              <a:t>Building representative datasets.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943600" cy="6400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A2E"/>
                </a:solidFill>
              </a:rPr>
              <a:t>AI Ethics in Governance Models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389888"/>
            <a:ext cx="109728" cy="10972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28016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1A2E"/>
                </a:solidFill>
              </a:rPr>
              <a:t>Ensuring technology serves democracy.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2048256"/>
            <a:ext cx="109728" cy="10972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938528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1A2E"/>
                </a:solidFill>
              </a:rPr>
              <a:t>Preventing surveillance creep.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706624"/>
            <a:ext cx="109728" cy="10972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596896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1A2E"/>
                </a:solidFill>
              </a:rPr>
              <a:t>Transparency in public sector deployment.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3364992"/>
            <a:ext cx="109728" cy="10972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3255264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1A2E"/>
                </a:solidFill>
              </a:rPr>
              <a:t>Upholding civil liberties.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4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76" y="0"/>
            <a:ext cx="6094476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852160" y="0"/>
            <a:ext cx="27432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943600" cy="6400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2860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A2E"/>
                </a:solidFill>
              </a:rPr>
              <a:t>Workshops and Training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89888"/>
            <a:ext cx="109728" cy="10972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28016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1A2E"/>
                </a:solidFill>
              </a:rPr>
              <a:t>Cross-functional ethical training for engineers.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048256"/>
            <a:ext cx="109728" cy="10972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938528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1A2E"/>
                </a:solidFill>
              </a:rPr>
              <a:t>Mandatory curriculum updates in universities.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706624"/>
            <a:ext cx="109728" cy="10972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596896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1A2E"/>
                </a:solidFill>
              </a:rPr>
              <a:t>Simulations of ethical failure scenarios.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364992"/>
            <a:ext cx="109728" cy="10972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3255264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1A2E"/>
                </a:solidFill>
              </a:rPr>
              <a:t>Fostering a culture of responsibility.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4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058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</a:rPr>
              <a:t>Conclusion: A Shared Responsibility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29184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02C39A"/>
                </a:solidFill>
              </a:rPr>
              <a:t>✦  Ethical AI requires global cooperation.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388620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02C39A"/>
                </a:solidFill>
              </a:rPr>
              <a:t>✦  It demands technical rigor and philosophical depth.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448056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02C39A"/>
                </a:solidFill>
              </a:rPr>
              <a:t>✦  Innovation must serve humanity, always.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507492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02C39A"/>
                </a:solidFill>
              </a:rPr>
              <a:t>✦  The moral choice is paramount.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